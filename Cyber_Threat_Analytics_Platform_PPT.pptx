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5" d="100"/>
          <a:sy n="85" d="100"/>
        </p:scale>
        <p:origin x="56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116373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0C3A1F-A536-EC31-A74D-F8A13230B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47D74DB-5EBC-D16C-8E68-ECB7EA7D9C0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30EED02-9182-4BE3-A0EF-7E0CCC167A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AA3FF1-555D-DF16-3445-3A80BF9434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46611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254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Cyber Threat Analytics Platform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8B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                             with Incident Visualization System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Project Overview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14300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studies cybersecurity incidents using connected Power BI dashboards. The data covers incidents, response actions, and locations, and is analyzed by type, place, time, response performance, and future risk.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443804" y="2296973"/>
            <a:ext cx="2474254" cy="1196053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1201" y="3066898"/>
            <a:ext cx="2856118" cy="398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Total Incidents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193237" y="2327156"/>
            <a:ext cx="2474254" cy="1168906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1E0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01040" y="2500702"/>
            <a:ext cx="2474254" cy="5215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4074"/>
                </a:solidFill>
              </a:rPr>
              <a:t>50,000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3801040" y="3097378"/>
            <a:ext cx="2474254" cy="4346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Locations Covered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23197" y="2277674"/>
            <a:ext cx="2556896" cy="1193791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5954971" y="2567939"/>
            <a:ext cx="2404778" cy="47366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4074"/>
                </a:solidFill>
              </a:rPr>
              <a:t>25,000</a:t>
            </a:r>
            <a:endParaRPr lang="en-US" sz="2600" dirty="0"/>
          </a:p>
        </p:txBody>
      </p:sp>
      <p:sp>
        <p:nvSpPr>
          <p:cNvPr id="12" name="Text 10"/>
          <p:cNvSpPr/>
          <p:nvPr/>
        </p:nvSpPr>
        <p:spPr>
          <a:xfrm>
            <a:off x="5999256" y="3099358"/>
            <a:ext cx="2404778" cy="33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Cities Covered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48640" y="3977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2545"/>
                </a:solidFill>
              </a:rPr>
              <a:t>What the dashboards cover: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48640" y="4389120"/>
            <a:ext cx="10972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Threat type, severity, and country/city-level breakdown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When incidents happen — by hour, day, week, month, and season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How efficiently incidents are responded to and resolved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Risk scoring, forecasting, and executive-level decision support</a:t>
            </a:r>
            <a:endParaRPr lang="en-US" sz="1400" dirty="0"/>
          </a:p>
        </p:txBody>
      </p:sp>
      <p:sp>
        <p:nvSpPr>
          <p:cNvPr id="18" name="Shape 5">
            <a:extLst>
              <a:ext uri="{FF2B5EF4-FFF2-40B4-BE49-F238E27FC236}">
                <a16:creationId xmlns:a16="http://schemas.microsoft.com/office/drawing/2014/main" id="{8A7CA3F8-E3BC-DB88-4E20-A3461A6AADAA}"/>
              </a:ext>
            </a:extLst>
          </p:cNvPr>
          <p:cNvSpPr/>
          <p:nvPr/>
        </p:nvSpPr>
        <p:spPr>
          <a:xfrm>
            <a:off x="3181022" y="2296974"/>
            <a:ext cx="2474254" cy="1196053"/>
          </a:xfrm>
          <a:prstGeom prst="roundRect">
            <a:avLst>
              <a:gd name="adj" fmla="val 5333"/>
            </a:avLst>
          </a:prstGeom>
          <a:solidFill>
            <a:srgbClr val="F1F5F9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3459497C-3640-3B85-28FC-37AA5A0A8626}"/>
              </a:ext>
            </a:extLst>
          </p:cNvPr>
          <p:cNvSpPr/>
          <p:nvPr/>
        </p:nvSpPr>
        <p:spPr>
          <a:xfrm>
            <a:off x="3181022" y="2500702"/>
            <a:ext cx="2474254" cy="4784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4074"/>
                </a:solidFill>
              </a:rPr>
              <a:t>13,000</a:t>
            </a:r>
            <a:endParaRPr lang="en-US" sz="2600" dirty="0"/>
          </a:p>
        </p:txBody>
      </p:sp>
      <p:sp>
        <p:nvSpPr>
          <p:cNvPr id="20" name="Text 7">
            <a:extLst>
              <a:ext uri="{FF2B5EF4-FFF2-40B4-BE49-F238E27FC236}">
                <a16:creationId xmlns:a16="http://schemas.microsoft.com/office/drawing/2014/main" id="{F4814929-B628-2AB9-81C1-0349E51E13A9}"/>
              </a:ext>
            </a:extLst>
          </p:cNvPr>
          <p:cNvSpPr/>
          <p:nvPr/>
        </p:nvSpPr>
        <p:spPr>
          <a:xfrm>
            <a:off x="3181022" y="3097378"/>
            <a:ext cx="2474254" cy="3986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B7280"/>
                </a:solidFill>
              </a:rPr>
              <a:t>Critical Incidents</a:t>
            </a:r>
            <a:endParaRPr lang="en-US" sz="1300" dirty="0"/>
          </a:p>
        </p:txBody>
      </p:sp>
      <p:sp>
        <p:nvSpPr>
          <p:cNvPr id="21" name="Shape 8">
            <a:extLst>
              <a:ext uri="{FF2B5EF4-FFF2-40B4-BE49-F238E27FC236}">
                <a16:creationId xmlns:a16="http://schemas.microsoft.com/office/drawing/2014/main" id="{202A2807-BDCF-6E7A-2251-4305B65486D1}"/>
              </a:ext>
            </a:extLst>
          </p:cNvPr>
          <p:cNvSpPr/>
          <p:nvPr/>
        </p:nvSpPr>
        <p:spPr>
          <a:xfrm>
            <a:off x="8660415" y="2299235"/>
            <a:ext cx="2556896" cy="1193791"/>
          </a:xfrm>
          <a:prstGeom prst="roundRect">
            <a:avLst>
              <a:gd name="adj" fmla="val 3080"/>
            </a:avLst>
          </a:prstGeom>
          <a:solidFill>
            <a:srgbClr val="F1F5F9"/>
          </a:solidFill>
          <a:ln w="12700">
            <a:solidFill>
              <a:srgbClr val="E1E0D9"/>
            </a:solidFill>
            <a:prstDash val="solid"/>
          </a:ln>
        </p:spPr>
        <p:txBody>
          <a:bodyPr/>
          <a:lstStyle/>
          <a:p>
            <a:r>
              <a:rPr lang="en-US" sz="2400" b="1" dirty="0"/>
              <a:t>      </a:t>
            </a:r>
          </a:p>
          <a:p>
            <a:r>
              <a:rPr lang="en-US" sz="2400" b="1" dirty="0">
                <a:solidFill>
                  <a:srgbClr val="134074"/>
                </a:solidFill>
              </a:rPr>
              <a:t>        10.8 </a:t>
            </a:r>
            <a:r>
              <a:rPr lang="en-US" sz="2400" b="1" dirty="0" err="1">
                <a:solidFill>
                  <a:srgbClr val="134074"/>
                </a:solidFill>
              </a:rPr>
              <a:t>hrs</a:t>
            </a:r>
            <a:endParaRPr lang="en-US" sz="2400" b="1" dirty="0"/>
          </a:p>
          <a:p>
            <a:endParaRPr lang="en-US" sz="1200" b="1" dirty="0"/>
          </a:p>
          <a:p>
            <a:r>
              <a:rPr lang="en-US" sz="1200" b="1" dirty="0"/>
              <a:t>                </a:t>
            </a:r>
            <a:r>
              <a:rPr lang="en-US" sz="1200" dirty="0">
                <a:solidFill>
                  <a:srgbClr val="6B7280"/>
                </a:solidFill>
              </a:rPr>
              <a:t>Avg Response Time </a:t>
            </a:r>
            <a:endParaRPr lang="en-US" sz="1200" dirty="0"/>
          </a:p>
        </p:txBody>
      </p:sp>
      <p:sp>
        <p:nvSpPr>
          <p:cNvPr id="25" name="Text 3">
            <a:extLst>
              <a:ext uri="{FF2B5EF4-FFF2-40B4-BE49-F238E27FC236}">
                <a16:creationId xmlns:a16="http://schemas.microsoft.com/office/drawing/2014/main" id="{4C00CDBD-40C4-3305-A760-CACB1E58CF8C}"/>
              </a:ext>
            </a:extLst>
          </p:cNvPr>
          <p:cNvSpPr/>
          <p:nvPr/>
        </p:nvSpPr>
        <p:spPr>
          <a:xfrm>
            <a:off x="770965" y="2625669"/>
            <a:ext cx="2348753" cy="47842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134074"/>
                </a:solidFill>
              </a:rPr>
              <a:t>100,000</a:t>
            </a:r>
            <a:endParaRPr lang="en-US" sz="26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Threat Classification &amp; Severity</a:t>
            </a:r>
            <a:endParaRPr lang="en-US" sz="2600" dirty="0"/>
          </a:p>
        </p:txBody>
      </p:sp>
      <p:pic>
        <p:nvPicPr>
          <p:cNvPr id="3" name="Image 0" descr="/home/claude/docx_final/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6949440" cy="399592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7726680" y="960120"/>
            <a:ext cx="3886200" cy="3995928"/>
          </a:xfrm>
          <a:prstGeom prst="roundRect">
            <a:avLst>
              <a:gd name="adj" fmla="val 1412"/>
            </a:avLst>
          </a:prstGeom>
          <a:solidFill>
            <a:srgbClr val="F1F5F9"/>
          </a:solidFill>
          <a:ln/>
        </p:spPr>
      </p:sp>
      <p:sp>
        <p:nvSpPr>
          <p:cNvPr id="5" name="Text 2"/>
          <p:cNvSpPr/>
          <p:nvPr/>
        </p:nvSpPr>
        <p:spPr>
          <a:xfrm>
            <a:off x="7955280" y="1188720"/>
            <a:ext cx="3474720" cy="3566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Shows Total Incidents, Critical Incidents, and Avg Response Time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Breaks incidents down by category and severity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Tracks the monthly incident trend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Ranks incidents by location and shows response time by category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334155"/>
                </a:solidFill>
              </a:rPr>
              <a:t>Shows impact based on number of users affected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548640" y="502920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1. Threat Classification &amp; Severity Analytics Dashboard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Location &amp; Time-Based Analysis</a:t>
            </a:r>
            <a:endParaRPr lang="en-US" sz="2600" dirty="0"/>
          </a:p>
        </p:txBody>
      </p:sp>
      <p:pic>
        <p:nvPicPr>
          <p:cNvPr id="3" name="Image 0" descr="/home/claude/docx_final/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5486400" cy="3154680"/>
          </a:xfrm>
          <a:prstGeom prst="rect">
            <a:avLst/>
          </a:prstGeom>
        </p:spPr>
      </p:pic>
      <p:pic>
        <p:nvPicPr>
          <p:cNvPr id="4" name="Image 1" descr="/home/claude/docx_final/d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60120"/>
            <a:ext cx="5486400" cy="3154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2. Geospatial Analysis by City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722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3. Temporal Incident Analytics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Geospatial view: maps incidents by city and facility, with severity color-coded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Temporal view: shows peak hour, peak month, and trends by day, week, season, and year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Response Performance &amp; Risk Assessment</a:t>
            </a:r>
            <a:endParaRPr lang="en-US" sz="2600" dirty="0"/>
          </a:p>
        </p:txBody>
      </p:sp>
      <p:pic>
        <p:nvPicPr>
          <p:cNvPr id="3" name="Image 0" descr="/home/claude/docx_final/d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5486400" cy="3154680"/>
          </a:xfrm>
          <a:prstGeom prst="rect">
            <a:avLst/>
          </a:prstGeom>
        </p:spPr>
      </p:pic>
      <p:pic>
        <p:nvPicPr>
          <p:cNvPr id="4" name="Image 1" descr="/home/claude/docx_final/d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60120"/>
            <a:ext cx="5486400" cy="3154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4. Incident Response Analytics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722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5. Security Risk Assessment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Response view: measures response speed, resolution speed, and team performance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Risk Assessment: scores each city's threat exposure and compares risk indicators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B254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Predictive &amp; Executive Intelligence</a:t>
            </a:r>
            <a:endParaRPr lang="en-US" sz="2600" dirty="0"/>
          </a:p>
        </p:txBody>
      </p:sp>
      <p:pic>
        <p:nvPicPr>
          <p:cNvPr id="3" name="Image 0" descr="/home/claude/docx_final/d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960120"/>
            <a:ext cx="5486400" cy="3154680"/>
          </a:xfrm>
          <a:prstGeom prst="rect">
            <a:avLst/>
          </a:prstGeom>
        </p:spPr>
      </p:pic>
      <p:pic>
        <p:nvPicPr>
          <p:cNvPr id="4" name="Image 1" descr="/home/claude/docx_final/d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72200" y="960120"/>
            <a:ext cx="5486400" cy="315468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4864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6. Predictive Intelligence Dashboard</a:t>
            </a:r>
            <a:endParaRPr lang="en-US" sz="1100" dirty="0"/>
          </a:p>
        </p:txBody>
      </p:sp>
      <p:sp>
        <p:nvSpPr>
          <p:cNvPr id="6" name="Text 2"/>
          <p:cNvSpPr/>
          <p:nvPr/>
        </p:nvSpPr>
        <p:spPr>
          <a:xfrm>
            <a:off x="6172200" y="41605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</a:rPr>
              <a:t>7. Executive Intelligence Dashboard</a:t>
            </a:r>
            <a:endParaRPr lang="en-US" sz="1100" dirty="0"/>
          </a:p>
        </p:txBody>
      </p:sp>
      <p:sp>
        <p:nvSpPr>
          <p:cNvPr id="7" name="Text 3"/>
          <p:cNvSpPr/>
          <p:nvPr/>
        </p:nvSpPr>
        <p:spPr>
          <a:xfrm>
            <a:off x="548640" y="4572000"/>
            <a:ext cx="110642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Predictive view: estimates future incident trends and flags cities with fast-growing risk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334155"/>
                </a:solidFill>
              </a:rPr>
              <a:t>Executive view: a final summary with overall risk score, high-risk cities, and key metrics for decision-makers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545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E30B1C5-E094-B749-7FFC-26FF079C81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1E4ADDF6-E055-FC5F-C683-771F06E64DB1}"/>
              </a:ext>
            </a:extLst>
          </p:cNvPr>
          <p:cNvSpPr/>
          <p:nvPr/>
        </p:nvSpPr>
        <p:spPr>
          <a:xfrm>
            <a:off x="731520" y="22860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    THANK YOU</a:t>
            </a:r>
            <a:endParaRPr lang="en-US" sz="4000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E03027C-67BF-E2D2-8DDC-6B13B4D29433}"/>
              </a:ext>
            </a:extLst>
          </p:cNvPr>
          <p:cNvSpPr/>
          <p:nvPr/>
        </p:nvSpPr>
        <p:spPr>
          <a:xfrm>
            <a:off x="731520" y="3108960"/>
            <a:ext cx="106984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A8B8D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                                            </a:t>
            </a:r>
            <a:endParaRPr lang="en-US" sz="24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E381C45D-BC8B-6871-F295-27EB09C4D1B4}"/>
              </a:ext>
            </a:extLst>
          </p:cNvPr>
          <p:cNvSpPr/>
          <p:nvPr/>
        </p:nvSpPr>
        <p:spPr>
          <a:xfrm>
            <a:off x="731520" y="411480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33474678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317</Words>
  <Application>Microsoft Office PowerPoint</Application>
  <PresentationFormat>Widescreen</PresentationFormat>
  <Paragraphs>52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Saurabh Verma</cp:lastModifiedBy>
  <cp:revision>2</cp:revision>
  <dcterms:created xsi:type="dcterms:W3CDTF">2026-08-21T07:57:07Z</dcterms:created>
  <dcterms:modified xsi:type="dcterms:W3CDTF">2026-08-21T08:47:19Z</dcterms:modified>
</cp:coreProperties>
</file>